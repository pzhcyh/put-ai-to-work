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929e90976b4fac" /><Relationship Type="http://schemas.openxmlformats.org/officeDocument/2006/relationships/extended-properties" Target="/docProps/app.xml" Id="R4954a0d0cbd54412" /><Relationship Type="http://schemas.openxmlformats.org/officeDocument/2006/relationships/officeDocument" Target="/ppt/presentation.xml" Id="R6d2830526e9c45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66bf3795764310"/>
  </p:sldMasterIdLst>
  <p:notesMasterIdLst>
    <p:notesMasterId xmlns:r="http://schemas.openxmlformats.org/officeDocument/2006/relationships" r:id="R6d1b2293e0184fca"/>
  </p:notesMasterIdLst>
  <p:sldIdLst>
    <p:sldId xmlns:r="http://schemas.openxmlformats.org/officeDocument/2006/relationships" id="256" r:id="Re8351f6910464dc7"/>
    <p:sldId xmlns:r="http://schemas.openxmlformats.org/officeDocument/2006/relationships" id="257" r:id="R36a4013e58964f86"/>
    <p:sldId xmlns:r="http://schemas.openxmlformats.org/officeDocument/2006/relationships" id="258" r:id="R6c1c7d8196b64df6"/>
    <p:sldId xmlns:r="http://schemas.openxmlformats.org/officeDocument/2006/relationships" id="259" r:id="R22099f4a794d44e4"/>
    <p:sldId xmlns:r="http://schemas.openxmlformats.org/officeDocument/2006/relationships" id="260" r:id="Rba83ba2ed58d4885"/>
    <p:sldId xmlns:r="http://schemas.openxmlformats.org/officeDocument/2006/relationships" id="261" r:id="R18a1a7dadac04cad"/>
    <p:sldId xmlns:r="http://schemas.openxmlformats.org/officeDocument/2006/relationships" id="262" r:id="R3c00c400208c483e"/>
    <p:sldId xmlns:r="http://schemas.openxmlformats.org/officeDocument/2006/relationships" id="263" r:id="R531d41a07ee640ab"/>
    <p:sldId xmlns:r="http://schemas.openxmlformats.org/officeDocument/2006/relationships" id="264" r:id="R6e6e7ca99d1541e8"/>
    <p:sldId xmlns:r="http://schemas.openxmlformats.org/officeDocument/2006/relationships" id="265" r:id="R885b4518d0ce4456"/>
    <p:sldId xmlns:r="http://schemas.openxmlformats.org/officeDocument/2006/relationships" id="266" r:id="R9f93ca3bcba44601"/>
    <p:sldId xmlns:r="http://schemas.openxmlformats.org/officeDocument/2006/relationships" id="267" r:id="R5d30bd052f0f4be8"/>
    <p:sldId xmlns:r="http://schemas.openxmlformats.org/officeDocument/2006/relationships" id="268" r:id="R383822dbfa604013"/>
    <p:sldId xmlns:r="http://schemas.openxmlformats.org/officeDocument/2006/relationships" id="269" r:id="Raf93ccddc3de4cba"/>
    <p:sldId xmlns:r="http://schemas.openxmlformats.org/officeDocument/2006/relationships" id="270" r:id="R99073fc785ed431d"/>
    <p:sldId xmlns:r="http://schemas.openxmlformats.org/officeDocument/2006/relationships" id="271" r:id="R7793ef6653b64b17"/>
    <p:sldId xmlns:r="http://schemas.openxmlformats.org/officeDocument/2006/relationships" id="272" r:id="R367a592d9b6848b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0de315475f4a04" /><Relationship Type="http://schemas.openxmlformats.org/officeDocument/2006/relationships/slideMaster" Target="/ppt/slideMasters/slideMaster1.xml" Id="R2466bf3795764310" /><Relationship Type="http://schemas.openxmlformats.org/officeDocument/2006/relationships/notesMaster" Target="/ppt/notesMasters/notesMaster1.xml" Id="R6d1b2293e0184fca" /><Relationship Type="http://schemas.openxmlformats.org/officeDocument/2006/relationships/presProps" Target="/ppt/presProps.xml" Id="Rc91c815172cf4bd2" /><Relationship Type="http://schemas.openxmlformats.org/officeDocument/2006/relationships/tableStyles" Target="/ppt/tableStyles.xml" Id="R67fbde0fdeae4270" /><Relationship Type="http://schemas.openxmlformats.org/officeDocument/2006/relationships/slide" Target="/ppt/slides/slide1.xml" Id="Re8351f6910464dc7" /><Relationship Type="http://schemas.openxmlformats.org/officeDocument/2006/relationships/slide" Target="/ppt/slides/slide2.xml" Id="R36a4013e58964f86" /><Relationship Type="http://schemas.openxmlformats.org/officeDocument/2006/relationships/slide" Target="/ppt/slides/slide3.xml" Id="R6c1c7d8196b64df6" /><Relationship Type="http://schemas.openxmlformats.org/officeDocument/2006/relationships/slide" Target="/ppt/slides/slide4.xml" Id="R22099f4a794d44e4" /><Relationship Type="http://schemas.openxmlformats.org/officeDocument/2006/relationships/slide" Target="/ppt/slides/slide5.xml" Id="Rba83ba2ed58d4885" /><Relationship Type="http://schemas.openxmlformats.org/officeDocument/2006/relationships/slide" Target="/ppt/slides/slide6.xml" Id="R18a1a7dadac04cad" /><Relationship Type="http://schemas.openxmlformats.org/officeDocument/2006/relationships/slide" Target="/ppt/slides/slide7.xml" Id="R3c00c400208c483e" /><Relationship Type="http://schemas.openxmlformats.org/officeDocument/2006/relationships/slide" Target="/ppt/slides/slide8.xml" Id="R531d41a07ee640ab" /><Relationship Type="http://schemas.openxmlformats.org/officeDocument/2006/relationships/slide" Target="/ppt/slides/slide9.xml" Id="R6e6e7ca99d1541e8" /><Relationship Type="http://schemas.openxmlformats.org/officeDocument/2006/relationships/slide" Target="/ppt/slides/slide10.xml" Id="R885b4518d0ce4456" /><Relationship Type="http://schemas.openxmlformats.org/officeDocument/2006/relationships/slide" Target="/ppt/slides/slide11.xml" Id="R9f93ca3bcba44601" /><Relationship Type="http://schemas.openxmlformats.org/officeDocument/2006/relationships/slide" Target="/ppt/slides/slide12.xml" Id="R5d30bd052f0f4be8" /><Relationship Type="http://schemas.openxmlformats.org/officeDocument/2006/relationships/slide" Target="/ppt/slides/slide13.xml" Id="R383822dbfa604013" /><Relationship Type="http://schemas.openxmlformats.org/officeDocument/2006/relationships/slide" Target="/ppt/slides/slide14.xml" Id="Raf93ccddc3de4cba" /><Relationship Type="http://schemas.openxmlformats.org/officeDocument/2006/relationships/slide" Target="/ppt/slides/slide15.xml" Id="R99073fc785ed431d" /><Relationship Type="http://schemas.openxmlformats.org/officeDocument/2006/relationships/slide" Target="/ppt/slides/slide16.xml" Id="R7793ef6653b64b17" /><Relationship Type="http://schemas.openxmlformats.org/officeDocument/2006/relationships/slide" Target="/ppt/slides/slide17.xml" Id="R367a592d9b68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d8cf24f6b7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cec900f884aa0" /><Relationship Type="http://schemas.openxmlformats.org/officeDocument/2006/relationships/notesMaster" Target="/ppt/notesMasters/notesMaster1.xml" Id="Rb5a2fac60017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67e396f574d0c" /><Relationship Type="http://schemas.openxmlformats.org/officeDocument/2006/relationships/notesMaster" Target="/ppt/notesMasters/notesMaster1.xml" Id="R444249606303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08cb22a0942bf" /><Relationship Type="http://schemas.openxmlformats.org/officeDocument/2006/relationships/notesMaster" Target="/ppt/notesMasters/notesMaster1.xml" Id="Re3eccf07558b4d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1fb217faa541a7" /><Relationship Type="http://schemas.openxmlformats.org/officeDocument/2006/relationships/notesMaster" Target="/ppt/notesMasters/notesMaster1.xml" Id="R9f1b5a3d3c8941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61dc8cf8841a4" /><Relationship Type="http://schemas.openxmlformats.org/officeDocument/2006/relationships/notesMaster" Target="/ppt/notesMasters/notesMaster1.xml" Id="R0c9374b1a4e943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82830d17449e7" /><Relationship Type="http://schemas.openxmlformats.org/officeDocument/2006/relationships/notesMaster" Target="/ppt/notesMasters/notesMaster1.xml" Id="R6554a31bd02247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c5e9bdb7a4cf3" /><Relationship Type="http://schemas.openxmlformats.org/officeDocument/2006/relationships/notesMaster" Target="/ppt/notesMasters/notesMaster1.xml" Id="R67f2dd50233d42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cb32829a364caf" /><Relationship Type="http://schemas.openxmlformats.org/officeDocument/2006/relationships/notesMaster" Target="/ppt/notesMasters/notesMaster1.xml" Id="Rabc6d679ce4c46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b456e5fa64c7b" /><Relationship Type="http://schemas.openxmlformats.org/officeDocument/2006/relationships/notesMaster" Target="/ppt/notesMasters/notesMaster1.xml" Id="R8134dd9635754d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98e0450dc843c7" /><Relationship Type="http://schemas.openxmlformats.org/officeDocument/2006/relationships/notesMaster" Target="/ppt/notesMasters/notesMaster1.xml" Id="R5eb3ca1e5cd34e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3bbf0355694863" /><Relationship Type="http://schemas.openxmlformats.org/officeDocument/2006/relationships/notesMaster" Target="/ppt/notesMasters/notesMaster1.xml" Id="R1320e25309274a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ea8168dad145cb" /><Relationship Type="http://schemas.openxmlformats.org/officeDocument/2006/relationships/notesMaster" Target="/ppt/notesMasters/notesMaster1.xml" Id="R68f37799878048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cb812b92eb45e7" /><Relationship Type="http://schemas.openxmlformats.org/officeDocument/2006/relationships/notesMaster" Target="/ppt/notesMasters/notesMaster1.xml" Id="R74f0cc09ca9744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c06a4a31094aab" /><Relationship Type="http://schemas.openxmlformats.org/officeDocument/2006/relationships/notesMaster" Target="/ppt/notesMasters/notesMaster1.xml" Id="Re80447eb46e349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237e34d47c4b28" /><Relationship Type="http://schemas.openxmlformats.org/officeDocument/2006/relationships/notesMaster" Target="/ppt/notesMasters/notesMaster1.xml" Id="R3687b0cdf29c4c3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1fca8ba28e4a13" /><Relationship Type="http://schemas.openxmlformats.org/officeDocument/2006/relationships/notesMaster" Target="/ppt/notesMasters/notesMaster1.xml" Id="R5ba7dd2be8a34c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b00c5a7be243fb" /><Relationship Type="http://schemas.openxmlformats.org/officeDocument/2006/relationships/notesMaster" Target="/ppt/notesMasters/notesMaster1.xml" Id="Rb1f49c7daa97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AI时代：从会使用到会管理</a:t>
            </a:r>
          </a:p>
          <a:p xmlns:a="http://schemas.openxmlformats.org/drawingml/2006/main">
            <a:r>
              <a:t>第一讲 · 认识与起步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开场不介绍一长串工具。说明今天围绕“理解变化、理解AI、理解人的作用、知道怎么开始”展开。主讲30分钟，随后用Codex或CSGClaw演示写方案，留20分钟答疑。今天以讲解和展示为主，大家可先看懂方法，课后从自己的小任务开始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今天，从你熟悉的一件事开始</a:t>
            </a:r>
          </a:p>
          <a:p xmlns:a="http://schemas.openxmlformats.org/drawingml/2006/main">
            <a:r>
              <a:t>开场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请现场举手、线上在聊天区回复：最想让AI帮助哪件事？只收两三个简短回应，不在这里展开答疑。听众可能已经用过手机豆包或DeepSeek，但未形成系统认识。以上是用途举例，不代表学员均已掌握。不要因工具名字熟悉就默认大家理解智能体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四次工业革命：工作方式持续改变</a:t>
            </a:r>
          </a:p>
          <a:p xmlns:a="http://schemas.openxmlformats.org/drawingml/2006/main">
            <a:r>
              <a:t>理解变化 · 建议 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旧课件的四次工业革命主线，不进行复杂年代考据。第一次以水力与蒸汽动力推动机械化；第二次以电力和规模化生产为代表；第三次以计算机和互联网为代表；第四次是数字、物理等领域多种技术的融合，本课选择AI与智能体作为观察切入点。重点让学员理解工作内容和分工会变化。不要将第四次工业革命严格等同于AI，也不要声称前两次只影响体力。资料：世界经济论坛关于第四次工业革命的解释。</a:t>
            </a:r>
          </a:p>
          <a:p xmlns:a="http://schemas.openxmlformats.org/drawingml/2006/main">
            <a:r>
              <a:t>参考：世界经济论坛 What is the fourth industrial revolution? https://www.weforum.org/stories/2016/01/what-is-the-fourth-industrial-revolution/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AI开始放大部分脑力</a:t>
            </a:r>
          </a:p>
          <a:p xmlns:a="http://schemas.openxmlformats.org/drawingml/2006/main">
            <a:r>
              <a:t>理解变化 · 建议 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旧稿“信息生产效率、信息传递效率”的观察角度，明确它是教学框架，不是严格的信息论定理。计算机与互联网也能生产和处理信息，AI也依赖既有数字网络。可以用“以前自己逐字起草，现在交代背景并审改”说明个人工作方式变化。部分任务可以做得很快，但速度不证明内容正确。不要宣称固定效率倍数，也不预测某类岗位必然消失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人与AI：一个直观的类比</a:t>
            </a:r>
          </a:p>
          <a:p xmlns:a="http://schemas.openxmlformats.org/drawingml/2006/main">
            <a:r>
              <a:t>理解AI · 建议 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部分是此前听众反响较好的内容，保留并慢一点讲。强调“大模型像大脑”是帮助理解的类比，不能据此认为AI知道单位的真实背景、有人的价值观或能承担责任。外部记忆要有具体机制，不能把聊天自动等同于永久记忆或模型训练。举例：AI没有拿到你的资料，就可能不知道实际时间、对象、资源限制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大模型、智能体与AI团队</a:t>
            </a:r>
          </a:p>
          <a:p xmlns:a="http://schemas.openxmlformats.org/drawingml/2006/main">
            <a:r>
              <a:t>理解AI · 建议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同一组人的类比解释三个层次。第一，大模型像大脑，负责理解、分析、生成与规划。豆包、DeepSeek是学员熟悉的应用入口，应用背后有大模型提供能力，不必展开产品与模型的技术分类。第二，智能体包括大模型这个大脑，再结合输入感知、可调用的工具和执行反馈，围绕目标完成任务。可以口头类比眼睛、耳朵、鼻子、手脚；这些是功能类比，具体感知和行动能力取决于系统接入的输入、工具与权限，并不表示每个智能体都有嗅觉或物理身体。第三，借助多智能体协作的OPC，可以类比一位老板组织多名员工：有人写材料、有人查资料、有人做图表，不同智能体承担不同职责，共同推动业务。人需要明确业务目标、分配任务、检查协作结果并承担责任。OPC指一人公司的组织形式，多智能体协作是可借助的一种工作方式。类比不代表AI具有人类意识、能力或责任，也不保证任务一定完成。此页建议2分钟；后面原有智能体与OPC两页各压缩为1分钟，维持讲解30分钟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大模型与智能体：能力怎样转化为行动</a:t>
            </a:r>
          </a:p>
          <a:p xmlns:a="http://schemas.openxmlformats.org/drawingml/2006/main">
            <a:r>
              <a:t>理解AI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“写方案”串起模型能力与工具执行。大模型也能分析规划，智能体通常把模型和工具放在反馈循环里；工作流也可以串起多个步骤。不要把二者讲成“模型只能回答，智能体一定能自动完成任何事”。豆包、DeepSeek是学员熟悉的应用入口，不同应用与功能的执行能力各不相同。工具、权限、环境和任务本身都会影响结果。资料参考Anthropic Building Effective Agents。 本页在新增概念总览之后作为1分钟补充，聚焦原有例子与限定说明。</a:t>
            </a:r>
          </a:p>
          <a:p xmlns:a="http://schemas.openxmlformats.org/drawingml/2006/main">
            <a:r>
              <a:t>参考：Anthropic Building Effective Agents https://www.anthropic.com/engineering/building-effective-agents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OPC：一个人组织更多工作的可能</a:t>
            </a:r>
          </a:p>
          <a:p xmlns:a="http://schemas.openxmlformats.org/drawingml/2006/main">
            <a:r>
              <a:t>理解AI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只传递组织工作范围可以扩大的概念，最多两分钟。举例：一个人可借助AI组织文案、资料整理、简单程序等工作，也可以连接外部专业服务。大模型是能力，智能体是执行任务的系统，OPC是经营组织形式，不是必然的技术升级终点。拥有智能体不自动产生客户或经营成果，不展开创业、融资和多智能体搭建。 本页在新增概念总览之后作为1分钟补充，聚焦原有例子与限定说明。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AI时代人的三项能力</a:t>
            </a:r>
          </a:p>
          <a:p xmlns:a="http://schemas.openxmlformats.org/drawingml/2006/main">
            <a:r>
              <a:t>人的能力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讲师的课程建议，不包装成公认唯一的能力模型。三项名称沿用旧课件，保持听众熟悉的表达。这里先给地图，后面分别展开。业务化不仅是提示词技巧，还包括专业知识、判断力和决策；管理承接“有计划、有目标的懒”；学习帮助不断改进自己的任务和判断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业务化：专业知识帮助我们判断</a:t>
            </a:r>
          </a:p>
          <a:p xmlns:a="http://schemas.openxmlformats.org/drawingml/2006/main">
            <a:r>
              <a:t>人的能力 · 建议 3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办公人员熟悉的方案说起：一份方案可能语言很好，却写了不存在的预算、不适合的安排或未经确认的事实。业务化是把真实需求翻译成任务，专业知识让人更容易发现问题。AI也可辅助判断和自检，但不能把它的自信当作正确证据。遇到自己不懂的专业问题，要查原始依据或请相应专业人员核实。正式使用前由人确认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管理：有计划、有目标的懒</a:t>
            </a:r>
          </a:p>
          <a:p xmlns:a="http://schemas.openxmlformats.org/drawingml/2006/main">
            <a:r>
              <a:t>人的能力 · 建议 4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依据本次对话整理的讲师经验，不是效率统计或通用定律。讲师喜欢思考如何优化流程、减少人投入的时间并提高交付质量。可以讲测试经历：AI原本把测试交给我，我会追问哪些测试它能够完成，让它先执行适合的检查，再说明需要人参与的部分。检查结果仍要有实际证据，AI自查不能保证全部正确。强调像管理者交代任务，先给背景、目标、资料、标准，始终把控方向。有目标地减少机械执行，不等于放弃理解和责任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学习：用一次，检查一次，改进一次</a:t>
            </a:r>
          </a:p>
          <a:p xmlns:a="http://schemas.openxmlformats.org/drawingml/2006/main">
            <a:r>
              <a:t>人的能力 · 建议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用原稿的学习闭环，但不使用未经证实的学习金字塔记忆百分比。让学员理解：用过一次不等于掌握，收藏工具也不等于形成能力。先选小任务，核对结果，再复盘自己给的信息是否足够。好的任务描述、可靠资料和检查方法可以保存，下次复用。以个人学习为重点，外部记忆和知识库留到后续课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交代任务：背景、目标、资料、要求</a:t>
            </a:r>
          </a:p>
          <a:p xmlns:a="http://schemas.openxmlformats.org/drawingml/2006/main">
            <a:r>
              <a:t>开始使用 · 建议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应原课件目标、背景、资料、输出、验收、边界六项任务单，首课用四个易记的词呈现。输出形式、质量标准及不能自行决定的事项都可以放在“要求”里。告诉学员：不需要背很长的提示词，像向同事交代工作一样把事情说清楚。自检可辅助发现问题，关键事实还要回到原始资料核验。使用材料须符合单位要求，课堂只使用公开或虚构资料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从身边的一件事开始使用</a:t>
            </a:r>
          </a:p>
          <a:p xmlns:a="http://schemas.openxmlformats.org/drawingml/2006/main">
            <a:r>
              <a:t>开始使用 · 建议 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只介绍起步方向，不承诺某一产品所有功能永久免费。学员可以先选择国内易访问、免费可起步的入口，实际功能和额度以工具当前页面为准。主线是材料写作；作图和编程作为兴趣拓展。讲师没有辅导孩子的实践经验，本课不设计该领域的演示。首次不要求全员带电脑，不在课堂里花时间统一注册安装。后续根据任务需要引导手机或电脑实践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认识OpenCSG</a:t>
            </a:r>
          </a:p>
          <a:p xmlns:a="http://schemas.openxmlformats.org/drawingml/2006/main">
            <a:r>
              <a:t>开始使用 · 建议 1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控制在一分钟内，不展开产品矩阵、商业方案或本地项目部署状况。Hugging Face对新学员也可能陌生，先用“寻找、分享AI模型和资料的平台”解释，再用类比补充。不把模型库等同于直接可对话的智能体应用，不暗示所有资源都可以无限制免费使用。介绍依据OpenCSG社区官方文档，2026-09-15核对。若现场打开官网，只需简短展示入口，避免挤占写方案的演示时间。</a:t>
            </a:r>
          </a:p>
          <a:p xmlns:a="http://schemas.openxmlformats.org/drawingml/2006/main">
            <a:r>
              <a:t>参考：OpenCSG 官方文档 https://opencsg.com/docs/intro</a:t>
            </a:r>
          </a:p>
          <a:p xmlns:a="http://schemas.openxmlformats.org/drawingml/2006/main">
            <a:r>
              <a:t>Logo来源：OpenCSG官网 https://opencsg.com/images/OpenCSG_logo.svg ，2026-09-15下载。按讲师要求转为纯白，保持原版轮廓与比例，背景透明。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现场演示：让智能体完成一份方案</a:t>
            </a:r>
          </a:p>
          <a:p xmlns:a="http://schemas.openxmlformats.org/drawingml/2006/main">
            <a:r>
              <a:t>智能体演示 · 建议 10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是现场切换工具的引导，不是已运行的演示记录。根据用户明确要求，方案题材、资料和细节由讲师自行准备。本课只使用Codex或CSGClaw中一个熟悉且稳定的工具。建议演示一次完整的交代、执行、检查、修改过程，避免展示复杂安装配置。讲师可提前跑通并保存结果备份，应对现场网络、生成等待或工具异常；本HTML不连接或启动智能体，也未替讲师完成这次演示。腾讯会议共享时只共享适合观众看的窗口，避免显示内部资料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交流答疑：你想把哪件事交给AI</a:t>
            </a:r>
          </a:p>
          <a:p xmlns:a="http://schemas.openxmlformats.org/drawingml/2006/main">
            <a:r>
              <a:t>回顾与答疑 · 建议 20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用半分钟收拢三句话，再进入现场和线上答疑。可按问题归类：想做什么、过去遇到什么问题、哪些环节可以交给AI。遇到自己没有实践或没有依据的问题，说明需要进一步核实，不当场编造。留意大家对材料写作、资料阅读、编程或作图的需求，用于后续每月两次的阶段性课程。公开报名但逐次递进，每节只补必要入门内容。下一课主题可依据本次反馈调整，不在本页宣布未经确定的日期。</a:t>
            </a:r>
          </a:p>
          <a:p xmlns:a="http://schemas.openxmlformats.org/drawingml/2006/main">
            <a:r>
              <a:t>页脚品牌标志依据OpenCSG官网SVG https://opencsg.com/images/OpenCSG_logo.svg 按讲师要求转换为纯白，背景透明。</a:t>
            </a:r>
          </a:p>
          <a:p xmlns:a="http://schemas.openxmlformats.org/drawingml/2006/main">
            <a:r>
              <a:t>内容来源：原课件与讲师讨论；视觉方向B由用户选择。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823b804ff4c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a29fd27b94549" /><Relationship Type="http://schemas.openxmlformats.org/officeDocument/2006/relationships/slideLayout" Target="/ppt/slideLayouts/slideLayout1.xml" Id="R71585c49fe0946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85c49fe0946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7dcad3f9e4cda" /><Relationship Type="http://schemas.openxmlformats.org/officeDocument/2006/relationships/image" Target="/ppt/media/image.png" Id="Ree8053afdc334ce6" /><Relationship Type="http://schemas.openxmlformats.org/officeDocument/2006/relationships/image" Target="/ppt/media/image2.png" Id="R697cb4cb174b4c94" /><Relationship Type="http://schemas.openxmlformats.org/officeDocument/2006/relationships/notesSlide" Target="/ppt/notesSlides/notesSlide1.xml" Id="Rfa6603cd6e56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c4b8708994103" /><Relationship Type="http://schemas.openxmlformats.org/officeDocument/2006/relationships/image" Target="/ppt/media/image3.png" Id="R4703f8200beb426f" /><Relationship Type="http://schemas.openxmlformats.org/officeDocument/2006/relationships/notesSlide" Target="/ppt/notesSlides/notesSlide2.xml" Id="Rd42f180aa79546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6f64f3d124b77" /><Relationship Type="http://schemas.openxmlformats.org/officeDocument/2006/relationships/image" Target="/ppt/media/image4.png" Id="R462771222fdf4839" /><Relationship Type="http://schemas.openxmlformats.org/officeDocument/2006/relationships/notesSlide" Target="/ppt/notesSlides/notesSlide3.xml" Id="R61a9bdb4283d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bb2de6d444358" /><Relationship Type="http://schemas.openxmlformats.org/officeDocument/2006/relationships/image" Target="/ppt/media/image5.png" Id="R89371b634df24afc" /><Relationship Type="http://schemas.openxmlformats.org/officeDocument/2006/relationships/notesSlide" Target="/ppt/notesSlides/notesSlide4.xml" Id="R11b94e87e127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e8b9106a749a7" /><Relationship Type="http://schemas.openxmlformats.org/officeDocument/2006/relationships/image" Target="/ppt/media/image6.png" Id="Rc2530c0c17da4e38" /><Relationship Type="http://schemas.openxmlformats.org/officeDocument/2006/relationships/notesSlide" Target="/ppt/notesSlides/notesSlide5.xml" Id="R98ab5e43947145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d78ee95d443f7" /><Relationship Type="http://schemas.openxmlformats.org/officeDocument/2006/relationships/image" Target="/ppt/media/image7.png" Id="Rfe8f3f28e3e44297" /><Relationship Type="http://schemas.openxmlformats.org/officeDocument/2006/relationships/notesSlide" Target="/ppt/notesSlides/notesSlide6.xml" Id="Rdb0a48df087241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df4f8de624fd3" /><Relationship Type="http://schemas.openxmlformats.org/officeDocument/2006/relationships/image" Target="/ppt/media/image8.png" Id="Rdf1d9abe7d37423c" /><Relationship Type="http://schemas.openxmlformats.org/officeDocument/2006/relationships/notesSlide" Target="/ppt/notesSlides/notesSlide7.xml" Id="Rf5c65d5d3a6641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8f84f47fd4051" /><Relationship Type="http://schemas.openxmlformats.org/officeDocument/2006/relationships/image" Target="/ppt/media/image9.png" Id="R30194286143e4b66" /><Relationship Type="http://schemas.openxmlformats.org/officeDocument/2006/relationships/notesSlide" Target="/ppt/notesSlides/notesSlide8.xml" Id="Ra928a01df99f48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ea74b37954d0a" /><Relationship Type="http://schemas.openxmlformats.org/officeDocument/2006/relationships/image" Target="/ppt/media/image10.png" Id="R4b22a12ecbee41db" /><Relationship Type="http://schemas.openxmlformats.org/officeDocument/2006/relationships/notesSlide" Target="/ppt/notesSlides/notesSlide9.xml" Id="R4f28c1933d684c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7c3c984af482c" /><Relationship Type="http://schemas.openxmlformats.org/officeDocument/2006/relationships/image" Target="/ppt/media/image11.png" Id="Rf5208870b64c4bb8" /><Relationship Type="http://schemas.openxmlformats.org/officeDocument/2006/relationships/notesSlide" Target="/ppt/notesSlides/notesSlide10.xml" Id="R86403fafbca144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46d9475714cb2" /><Relationship Type="http://schemas.openxmlformats.org/officeDocument/2006/relationships/image" Target="/ppt/media/image12.png" Id="Rbab8447268ba4a49" /><Relationship Type="http://schemas.openxmlformats.org/officeDocument/2006/relationships/notesSlide" Target="/ppt/notesSlides/notesSlide11.xml" Id="Rd68e1f5817604a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73d14b274557" /><Relationship Type="http://schemas.openxmlformats.org/officeDocument/2006/relationships/image" Target="/ppt/media/image13.png" Id="R5a3dec1adc52454a" /><Relationship Type="http://schemas.openxmlformats.org/officeDocument/2006/relationships/notesSlide" Target="/ppt/notesSlides/notesSlide12.xml" Id="R2cde573adf4e48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ca04ebf3042b7" /><Relationship Type="http://schemas.openxmlformats.org/officeDocument/2006/relationships/image" Target="/ppt/media/image14.png" Id="R16e94606172b47fc" /><Relationship Type="http://schemas.openxmlformats.org/officeDocument/2006/relationships/notesSlide" Target="/ppt/notesSlides/notesSlide13.xml" Id="R07189c4ef9f844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7b92cbaed45fc" /><Relationship Type="http://schemas.openxmlformats.org/officeDocument/2006/relationships/image" Target="/ppt/media/image15.png" Id="Rc07aac5656b540d5" /><Relationship Type="http://schemas.openxmlformats.org/officeDocument/2006/relationships/notesSlide" Target="/ppt/notesSlides/notesSlide14.xml" Id="Rc616680efbe643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13835508c4381" /><Relationship Type="http://schemas.openxmlformats.org/officeDocument/2006/relationships/image" Target="/ppt/media/image16.png" Id="R70cf77069fd64b1e" /><Relationship Type="http://schemas.openxmlformats.org/officeDocument/2006/relationships/notesSlide" Target="/ppt/notesSlides/notesSlide15.xml" Id="R5db3bf6d04fa40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38506a9604553" /><Relationship Type="http://schemas.openxmlformats.org/officeDocument/2006/relationships/image" Target="/ppt/media/image17.png" Id="R5be79701146a44ea" /><Relationship Type="http://schemas.openxmlformats.org/officeDocument/2006/relationships/notesSlide" Target="/ppt/notesSlides/notesSlide16.xml" Id="Rbdb6ad2accce41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4a8779a264c06" /><Relationship Type="http://schemas.openxmlformats.org/officeDocument/2006/relationships/image" Target="/ppt/media/image18.png" Id="R9de09aaec12e4ebe" /><Relationship Type="http://schemas.openxmlformats.org/officeDocument/2006/relationships/notesSlide" Target="/ppt/notesSlides/notesSlide17.xml" Id="Rbc54be9adc404e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053afdc334ce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AD591-4C44-4DA3-AB0E-D4C2F6B8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F1B"/>
              </a:gs>
              <a:gs pos="33000">
                <a:srgbClr val="080F1B">
                  <a:alpha val="96000"/>
                </a:srgbClr>
              </a:gs>
              <a:gs pos="68000">
                <a:srgbClr val="080F1B">
                  <a:alpha val="13000"/>
                </a:srgbClr>
              </a:gs>
              <a:gs pos="100000">
                <a:srgbClr val="080F1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3A842-A09F-4B2B-80CC-7F19FEC9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0F1B">
                  <a:alpha val="0"/>
                </a:srgbClr>
              </a:gs>
              <a:gs pos="76000">
                <a:srgbClr val="080F1B">
                  <a:alpha val="0"/>
                </a:srgbClr>
              </a:gs>
              <a:gs pos="100000">
                <a:srgbClr val="080F1B">
                  <a:alpha val="9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99CC9-0630-44E9-A95C-4CD3B32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 /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43A1-371E-4B2C-AD41-19AEB52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572250" cy="513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AI时代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A6086-68B4-4F7E-BF4E-1135055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7429500" cy="140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7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77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从会使用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6CC3F-FDF6-4495-9329-6997247A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3301"/>
            <a:ext cx="7429500" cy="1400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7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77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到会管理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5C4A6-7A0D-4806-B4AD-514D040A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7810500" cy="47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把事情想清楚，让AI做好执行。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6AB4-D4AE-4080-B344-2BF3A265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29275"/>
            <a:ext cx="857250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2026.09.17    现场授课 · 腾讯会议同步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F880B-794B-4DD2-94B2-F6D381F0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19900"/>
            <a:ext cx="809625" cy="65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2877C-D7AB-42B3-9E49-FCDA811F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019925"/>
            <a:ext cx="1381125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分钟讲解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FBC6A-579D-4ECD-8B8C-1B7DEF75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819900"/>
            <a:ext cx="809625" cy="65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91CA5-0135-4F08-90F3-2D685471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7019925"/>
            <a:ext cx="1381125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分钟演示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79CB8-57E1-4FC9-BBAF-21DA813F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819900"/>
            <a:ext cx="809625" cy="654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DFE03-A22A-4C19-87A4-FD2C6FAF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7019925"/>
            <a:ext cx="1381125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分钟答疑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B84B8-1EDE-4737-ACBF-2520916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2358B-814C-4E8C-B7AA-E31F51C1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8CD1E-2185-4A2B-A495-62E66E6D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第一讲 · 认识与起步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948F7-B7B5-4070-941F-60815D57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01 / 17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cb4cb174b4c94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7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80FD9-8578-432D-B2FC-95B3E79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01 / 与我们有关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61BB0-9C5B-4ABC-A901-07648296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你希望AI先帮你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86998-BB59-4456-A648-1B04EE8F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做好哪一件事？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8AF12-56CA-4BCB-ADE1-2CCA3BA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FA813-C9E8-4FB5-85CD-EB283324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C1B8A-854B-4F5B-A327-49CAB03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写一份材料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F11A8-396F-4C0B-9DF0-5120DFE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通知 · 工作小结 · 活动方案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53199-970C-4314-95B9-D9F3D4C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从熟悉的办公任务开始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1A34-E921-47C5-9FD5-8D6BE20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BD853-6FCD-40E8-BEE9-CE404775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1475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449DE-D0A8-4EE9-9CDF-03C531BC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5292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读懂一份资料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5D9BD-2583-4AAA-9240-6D5FD61C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1970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找重点 · 理思路 · 列问题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1AA7D-63F3-4C06-941D-441858A3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6262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让AI辅助阅读与理解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5C10B-6DA7-4995-B5CE-B4C362E2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C481E-EDE2-4B8C-9551-CA59CF3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7A223-0C0B-45CD-9BAF-20B6957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5292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试一个新想法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D38B4-F6D7-4570-AB19-B322D5EC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21970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画一张图 · 做一个小工具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236A6-3D6B-4080-BB3B-F4C4F673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6262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从兴趣出发，打开可能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FA171-52E3-44B1-AE61-6F285CEF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102EB-E8E8-483E-836E-86E3FA4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今天的起点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F6592-F470-495F-AA55-A4C6F6C8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认识它能做什么，找到自己愿意尝试的一件事。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6A755-7EB5-4839-A761-B4E029BB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7FBA9-1812-401B-B7FF-ECCA1689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9DCD1B-D3CF-41F1-AAFE-1B038E3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开场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5CE-22AC-49EC-B0EE-A4FC6B94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02 / 17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3f8200beb426f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71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4BD810-F9AA-4DA9-9C58-3175EF90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02 / 四次工业革命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7B654-98C2-4F1B-A237-25E34EF1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技术在变，人的工作也在变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8C832-A8BC-4340-AEE8-2499D0F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136779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从机械化、电气化、数字化，到多种技术融合的智能化。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61D01-C154-41FA-B88E-5D6E5133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8D1F7-82D7-41DF-A827-08EB723E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876300" cy="7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defRPr>
            </a:pPr>
            <a:r>
              <a: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66045-0698-494F-B5F3-F04E0FA0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05175"/>
            <a:ext cx="904875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第一次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7B693-276F-462C-8C60-568D05BD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52775"/>
            <a:ext cx="2476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机械化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0C5B7-4F6E-401D-B852-EE781708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28975"/>
            <a:ext cx="38100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水力 · 蒸汽动力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53D62-D75E-49D2-A2F5-E3D64CC2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机器参与生产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59EC5-AC63-468B-A878-BCC0F06A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369469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扩展体力与产能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E378E-1A3B-4FAC-A411-6C28F815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164B2-DB8A-40C0-9A0A-9FC43C36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876300" cy="7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defRPr>
            </a:pPr>
            <a:r>
              <a: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4D3C5-BA20-4F13-ACB9-209553DF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71975"/>
            <a:ext cx="904875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第二次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F3B8-D685-49FA-89E2-1A86E18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9575"/>
            <a:ext cx="2476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电气化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92613-A6A4-4A5A-B475-E7068A23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95775"/>
            <a:ext cx="38100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电力 · 规模生产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D0E34-9BA3-4164-95F4-7FA213C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114800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生产组织变化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95556-1862-412B-9E98-DA00C6D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6269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分工与协作扩张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E3CEF-50B7-49FB-9E29-66145CE3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5A1D8-D7D0-4039-975C-DDDE04D0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29225"/>
            <a:ext cx="876300" cy="7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defRPr>
            </a:pPr>
            <a:r>
              <a:rPr sz="3825" b="0">
                <a:solidFill>
                  <a:srgbClr val="7891A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64B1F-90A9-453B-B355-C63BCAE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38775"/>
            <a:ext cx="904875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第三次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8DBF8-1FCF-485F-8A9E-A88A4C7B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86375"/>
            <a:ext cx="2476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数字化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0AAC1-4A6D-4A7B-A8D1-C1B0E9A5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62575"/>
            <a:ext cx="38100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计算机 · 互联网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E89D1-B14A-4C7C-BEFE-7FA36016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81600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信息易于处理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D0BF1-3707-44AB-A321-1687D396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503069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存储、复制、连接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207338-C77B-4F6F-BFDE-FDD8FCD4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FA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63042C-9BF6-4017-A985-50FA4048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876300" cy="731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82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04B00-F453-4CBC-BA04-0F71552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505575"/>
            <a:ext cx="904875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第四次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F6695-CC27-47C0-AAAC-BC7A35E8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353175"/>
            <a:ext cx="2476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智能化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FAFB3-0961-4ADE-BDFB-1B1F0215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29375"/>
            <a:ext cx="38100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数字技术融合 · AI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2A7E91-DE0A-458B-B7DD-F07972A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48400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部分认知与执行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73ECB-3D94-4518-9C5C-5C72EEC8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69869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开始由AI辅助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01603-517F-435E-BF06-4DD2004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58075"/>
            <a:ext cx="13677900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简化的教学框架；第四次工业革命涉及多种技术融合，本课聚焦AI应用。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0AEAD-5B52-49B8-BE1A-C0689F5C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B2CC0-57A8-4057-94FE-7638782F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7F7E5E-0AD3-4B02-AA44-39CA156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理解变化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3A023-6BF4-43A0-8FBE-05E016A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03 / 17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771222fdf4839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28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8B027-602E-4B0D-B08A-1597AD5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03 / 一个观察技术变化的角度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3F2DB-AA15-471C-8DA4-EE01B7C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7143750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AI开始放大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2C97E-626C-42EE-96D7-AFCE2F7D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7620000" cy="1426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87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787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部分脑力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23C4C-1A77-4422-AD52-41336BFE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652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686B8-BB2E-4F01-87E7-35B4D25E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190750" cy="500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信息传递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5AB9C-D18D-432A-89A4-11C6AF07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695325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让信息更快到达人与系统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6EEA-3AD9-4798-8355-10C78ABC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652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578EA-720C-4E80-9B45-FF1E130F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2190750" cy="500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信息生产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455D1-C131-46D3-B16D-5AF79B1F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695325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形成摘要、方案、内容与指令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5A1E-3659-4193-8D9A-97A2534B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9067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D6A6A-CE84-4F2F-9E87-27A29D1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1333500" cy="629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54634-B03E-4994-A5C1-3281F689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943100"/>
            <a:ext cx="4105275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阅读材料、解释概念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5DC76-2396-4034-BEA9-38678CA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871BC-4297-4E98-9EB4-7A71F895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19475"/>
            <a:ext cx="1333500" cy="629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235FE-0C9F-42EF-90A2-96D5BAD2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495675"/>
            <a:ext cx="4105275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起草方案、图片、代码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8464B-CE19-46AA-9E95-077A3705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95825"/>
            <a:ext cx="5695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7BB6A-1F51-43C9-84EE-9E379F0F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72050"/>
            <a:ext cx="1333500" cy="629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1A0B0-F996-486F-B856-B2F425F5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048250"/>
            <a:ext cx="4105275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比较选项、拆解步骤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30FA8-8706-4373-B1EB-D9C192B8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77157-6B89-4534-B802-5C0297F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人的位置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147F6-19CC-4EDC-87CE-0257B30E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目标、现实判断与责任，仍需要人来把握。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08BC9-B8FD-4A4C-AAAF-60A30836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C0E06-A391-43CE-988D-41ED8EA6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80FE6-5588-4DAB-A444-25E3C29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18856-1AD5-4FDC-AF4D-3A902DD4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04 / 17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71b634df24afc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45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7381-C122-4E7A-83D7-549F99A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04 / 人与AI的类比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8D8A4-475F-4A5C-9215-97B2EB2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用人的工作方式，理解AI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81050" y="2781300"/>
          <a:ext xmlns:a="http://schemas.openxmlformats.org/drawingml/2006/main" cx="13677900" cy="4191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4572000"/>
                <a:gridCol w="5676900"/>
              </a:tblGrid>
              <a:tr h="838200"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7B6C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111D2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7B6C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工作中的作用</a:t>
                      </a:r>
                    </a:p>
                  </a:txBody>
                  <a:tcPr marL="91440" marR="91440" marT="45720" marB="45720" anchor="ctr">
                    <a:solidFill>
                      <a:srgbClr val="111D2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A7B6C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AI系统</a:t>
                      </a:r>
                    </a:p>
                  </a:txBody>
                  <a:tcPr marL="91440" marR="91440" marT="45720" marB="45720" anchor="ctr">
                    <a:solidFill>
                      <a:srgbClr val="111D2B"/>
                    </a:solidFill>
                  </a:tcPr>
                </a:tc>
              </a:tr>
              <a:tr h="838200"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大脑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理解、分析、计划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CAFA6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大模型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</a:tr>
              <a:tr h="838200"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眼睛与耳朵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接收外部信息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CAFA6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图像、语音等输入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</a:tr>
              <a:tr h="838200"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手脚与工具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把计划变成行动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CAFA6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浏览器、文件与软件工具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</a:tr>
              <a:tr h="838200"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知识与经验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0">
                          <a:solidFill>
                            <a:srgbClr val="F4F6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理解具体场景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  <a:tc>
                  <a:txBody>
                    <a:bodyPr wrap="none" lIns="219075" tIns="142875" rIns="142875" bIns="142875">
                      <a:noAutofit/>
                    </a:bodyPr>
                    <a:lstStyle/>
                    <a:p>
                      <a:r>
                        <a:rPr sz="2325" b="1">
                          <a:solidFill>
                            <a:srgbClr val="CAFA6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业务资料与外部记忆</a:t>
                      </a:r>
                    </a:p>
                  </a:txBody>
                  <a:tcPr marL="91440" marR="91440" marT="45720" marB="45720" anchor="ctr">
                    <a:solidFill>
                      <a:srgbClr val="080F1B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3767B-75D2-4B79-8D40-B5F9282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58075"/>
            <a:ext cx="13677900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这是教学类比；AI系统的机制与人不同，并不由此具有人类意识或责任。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A38B6-2E27-41C6-B368-66A75954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0C7DE-0E91-44E2-A6A3-DA5D404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6AEA5-0627-438B-BBF5-93199003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1CD8F-5883-41A0-AF23-8F36B21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05 / 17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30c0c17da4e38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240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10E18-DFC6-47F3-A27D-B7462398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05 / 从大脑到分工协作的AI团队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71D71-9858-49FC-8E3B-83E3F22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大模型、智能体与AI团队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9AD8C-77B6-49AE-8C27-AF06DBFA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36779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用“人怎么工作”的类比，理解AI的不同层次。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0F069-E3B6-4BED-A981-700E5C4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C3A44-D545-4719-A76A-14FA90D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3314700" cy="629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AI大模型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354E3-24FC-43E8-A46D-C89D1592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57525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像人的大脑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234D1-8F3F-43C1-AF04-181A84F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629025"/>
            <a:ext cx="5619750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理解问题、分析信息、生成内容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81787-6D2B-445C-82FA-7042D177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14675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豆包、DeepSeek等应用背后，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6BB08-812D-4428-8B2E-56819EC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36144"/>
            <a:ext cx="41719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有大模型提供能力。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A4AE8-54CC-46C5-BCD4-979F74F5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AEE38-A346-42D1-98D8-D9FF360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3314700" cy="629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AI智能体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491B1-07BE-4C34-A8E0-41F92F7D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95800"/>
            <a:ext cx="9934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大脑 ＋ 感知 ＋ 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C2CEA-3C88-40B9-A3B5-DBE582C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76825"/>
            <a:ext cx="9934575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像配上眼耳、手脚，能围绕目标执行任务。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7CC5B-98F9-4B65-9685-DF2F334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A8E78-A074-4CEB-82AA-98114AB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3333750" cy="500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OPC与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69622-20F0-4005-B0FA-C0531CC2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7939"/>
            <a:ext cx="3333750" cy="500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多智能体协作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686E1-A77F-4FC7-89DA-5EA56402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924550"/>
            <a:ext cx="9934575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你像老板，组织不同职责的“AI员工”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82537-F464-43AD-BA5E-DA8015EB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524625"/>
            <a:ext cx="9934575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写材料、查资料、做图表……分工配合，推动业务。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726C00-BF72-4F2C-89FC-69E4472E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7600"/>
            <a:ext cx="13677900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教学类比：智能体包含大模型；OPC可借助多个智能体协作，目标、分工与结果仍由人把关。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B843BB-40DF-48B6-8222-C3CAF8B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7C7EC-D5F3-4B8F-B822-5F698ABB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E1A95-9175-478E-A8D5-B01A5DA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B1732F-A639-4647-84E8-E349A14E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06 / 17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f3f28e3e44297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89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DD6D09-232C-4088-8751-14F222FE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06 / 大模型与智能体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30194-9F81-4F34-BE4E-B679F1B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让模型结合工具，完成任务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084C5-4DB7-419C-A7BF-28A25EA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562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3F42B-26D7-4BBD-B2D5-D259766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29527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大模型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7882C-6CA6-4EC8-92CC-72E58A46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33825"/>
            <a:ext cx="3000375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理解 · 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66989-943C-435B-9AD1-4C3EE75A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96740"/>
            <a:ext cx="3000375" cy="53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分析 · 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58A98-4409-4836-B1FB-30AF7102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24300"/>
            <a:ext cx="7810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45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1D340-D81E-4645-A850-EA7169F8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00375"/>
            <a:ext cx="3762375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任务所需的条件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5D4D0-6F1A-4FA1-8F85-BC312346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A3251-4941-40F1-B5DD-16A3DC48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38100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资料与背景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FC683-6398-4424-A478-76F6F16E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76725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7D99A-6020-4C60-BFE4-A9D26574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38100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工具与权限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CD372-FF7D-4217-A77A-94EF943A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720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8E421-F41A-465C-BC79-C07F4A3B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14925"/>
            <a:ext cx="38100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执行反馈与检查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4DBD0-6FDF-49E6-A7FE-11D09102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924300"/>
            <a:ext cx="857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45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B5635-C82E-46D8-AB5C-88CD556D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09900"/>
            <a:ext cx="32194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FA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1FBDB-CB18-4649-8E47-A5939B2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286125"/>
            <a:ext cx="2714625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0F1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80F1B"/>
                </a:solidFill>
                <a:latin typeface="PingFang SC"/>
                <a:ea typeface="PingFang SC"/>
                <a:cs typeface="PingFang SC"/>
              </a:rPr>
              <a:t>智能体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A68C2-F0FE-4282-AEA2-4A5C4BA9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933825"/>
            <a:ext cx="274320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0F1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80F1B"/>
                </a:solidFill>
                <a:latin typeface="PingFang SC"/>
                <a:ea typeface="PingFang SC"/>
                <a:cs typeface="PingFang SC"/>
              </a:rPr>
              <a:t>围绕目标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8CE6A-1D05-45A4-AD34-2B00E53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383881"/>
            <a:ext cx="274320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0F1B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80F1B"/>
                </a:solidFill>
                <a:latin typeface="PingFang SC"/>
                <a:ea typeface="PingFang SC"/>
                <a:cs typeface="PingFang SC"/>
              </a:rPr>
              <a:t>执行多个步骤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CAA02-D727-4B48-8771-D639F7E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246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16710-12DF-4F6F-946D-AE259864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53200"/>
            <a:ext cx="2266950" cy="371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以写方案为例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B9F13-1B8A-4F30-B7EB-B6E307ED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524625"/>
            <a:ext cx="112109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读取资料    →    起草内容    →    对照检查    →    修改交付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17C1B-959C-4E67-B182-5D05E81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58075"/>
            <a:ext cx="13677900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看具体工具和执行能力；手机或电脑并不是区分大模型与智能体的标准。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1FE00-3B1F-4A93-A0B2-B4F0664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268AD-EA0B-4956-8A17-213C157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D014E-6DF9-4EED-BA04-E03366B4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A929F-F8E3-435F-9682-AAAB1FDA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07 / 17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d9abe7d37423c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6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BD5D22-DF86-43E6-AF55-3BAAFF7D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07 / 今天只认识一个概念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AAF68-8443-4202-8DC1-9F6C500B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6810375" cy="2262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27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OPC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36A8-98F9-4BAB-8A23-D822DB20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62325"/>
            <a:ext cx="69532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One Person Company · 一人公司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992F9-0135-4709-9431-290AD945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7524750" cy="88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一个人，也可以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FF0DC-EE7E-4A13-9892-72A0F7CF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9226"/>
            <a:ext cx="7524750" cy="886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7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组织更多工作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A2031-50E8-43F2-B5B5-ED4EDA55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00225"/>
            <a:ext cx="5724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BEE8D-3C97-4124-9A56-21194534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00250"/>
            <a:ext cx="57150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29FA5-ABDF-4834-B1B3-F36A298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81275"/>
            <a:ext cx="572452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目标 · 判断 · 决策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34571-6B31-42B7-B2B2-EBBD3476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38525"/>
            <a:ext cx="5724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4D6FC-C1F9-47C2-A59C-91E05A4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38550"/>
            <a:ext cx="57150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AI与工具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D34FC-2812-4289-B145-8422AA1C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19575"/>
            <a:ext cx="572452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内容 · 分析 · 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6F9A6-5A2B-48E3-9988-D6D3A0C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076825"/>
            <a:ext cx="5724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27A47-02ED-4C0D-97FA-2C5997E0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76850"/>
            <a:ext cx="57150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外部资源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19FBC-9A5B-45EB-BDEF-DC55655F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857875"/>
            <a:ext cx="5724525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客户 · 合作 · 专业服务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5090A-9C4E-4DCA-A9BB-2C79E734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FC53C-AB09-440A-A9E5-BE3F1C67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理解到这里即可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839D7-0B55-43B9-B63E-184E47E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OPC是一种经营组织形式；业务与责任仍要由人承担。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0E6AE-2AFA-493A-AB5D-426C7CB2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46031-F0E9-4B59-8EF3-119AB97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DA759-6431-42E7-8800-66B84AC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91E50-BAF1-4F19-AD7B-E158F7D4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08 / 17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94286143e4b66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83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EBE680-CE0A-404E-9A7A-A1F2E506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08 / 本课建议训练的三项能力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D6F7F-42E8-4E52-985F-1807E50D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我们需要提升什么？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10EA8-8526-40F7-84AF-AF8E0A0F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95A3F-90E8-4A4A-8251-E2B3B43B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F2AF0-6151-4DB9-92A7-E93D3A1C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业务化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5D5EE-0B6E-4AA7-9B3A-0C691973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把问题说清楚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19F9B-798F-4E80-B53E-BBC1F5F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理解业务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4791F-CE13-436D-A0C1-0D5BFCF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1154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定义任务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E73B1-85EC-4FA7-B741-2FD49A06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4058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判断结果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D4F4B-E2AF-4BB2-AAC0-0CA44158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622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D5107-73F8-44C2-BB27-EFC61925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0375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6B272-9690-46CB-9F7D-5E14767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8635F-2883-4D3D-A092-69AA5B46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05325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把工作组织好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C4354-CEDA-4762-93AD-9C29C67D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48250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交代背景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F8DB6-8FDE-4BB8-9AF9-96003053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421154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安排执行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897C4-4129-4455-B521-869D8C08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794058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检查与纠偏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B8A2A-8C1C-4B4E-8BC3-CDF34FE1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622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09EC1-C32C-4730-921D-57AFD4E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00375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4FA21-F396-4EC2-AB11-0C4D62F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38550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学习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844BD0-3F91-4631-A34F-FEF26D3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05325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让自己持续更新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2E959-3EF3-4EBA-805E-5D71FE9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48250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补充知识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4C311-79AF-4AFB-BD0F-A7B89539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421154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4D936-722D-4757-8AC9-BF4D65A0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94058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复盘与积累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CCE92-62F4-4568-B5C8-714249CC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94FF8-C435-4D13-8D63-F506A52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57D8D-E170-4375-BA23-4A18A751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人的能力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AFCDCB-F4D4-48F4-9557-CAED8627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09 / 17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2a12ecbee41db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19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E6199-F491-4008-BA6C-2F6763D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09 / 业务化 · 专业能力与判断力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03FA06-9883-405B-8E61-9447F55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懂业务，才能判断结果是否真正可用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DEC21-3DD9-4E6A-B6B5-2F397EA8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571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FA6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4AEEB-012E-49C4-B9F2-8EE14F87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95600"/>
            <a:ext cx="6381750" cy="371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AI可以帮助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A9C2C-E75C-4BE8-8927-363B5A5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90900"/>
            <a:ext cx="6477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分析问题、提出选项、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578CB-F040-492E-B342-4D871A85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02380"/>
            <a:ext cx="6477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起草和检查材料。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15D35-145C-4CB6-B82F-6CC7614E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38675"/>
            <a:ext cx="6381750" cy="371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人需要负责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B09AD-DED2-4358-831C-444D858A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33975"/>
            <a:ext cx="6524625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理解现场、核实事实、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835DB-BD44-43F4-87BA-E6F1A59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584031"/>
            <a:ext cx="6524625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判断适用性、作出决策。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17FAD-000C-43C0-8A6B-E41BBC8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FD1DC-4497-4718-B695-74235BAD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567690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对不对？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D03E7-288A-4A97-AED4-8688606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62350"/>
            <a:ext cx="56769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关键事实能否找到依据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D4DBE-495C-4FF5-8445-3AF0DC23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290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D3A6E-16AC-4B18-80F3-206526CE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19575"/>
            <a:ext cx="567690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合不合适？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F6466-40F1-4177-AB2A-2B46E744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1550"/>
            <a:ext cx="56769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是否符合对象与实际条件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C3738-3185-4BF4-9BAF-64AB39C8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48275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6A3CA-6DCB-4F4A-8EA7-3901E557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38775"/>
            <a:ext cx="567690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能不能做？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56896-34F8-4F3D-A0FC-90F5A035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00750"/>
            <a:ext cx="56769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资源、权限、后果是否清楚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3E218-5774-4EDF-A834-83C7D0B8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5DA53-D1A4-41EB-B9F2-AB69B1E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写方案时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D47FE-6C7D-4C81-83C3-3D40775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文字流畅，只是开始；事实准确、切实可行，才有使用价值。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83583-AE9E-4B94-BB94-F3ACE50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E5869-7B8D-47A3-B9D2-3FE67424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5F380-98F9-4661-BB71-42C5BAA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人的能力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C7E047-4E67-42F5-9FB1-4F932401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10 / 17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08870b64c4bb8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76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3B2B8-7D88-440D-AC20-70AA1CB0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10 / 管理 · 我的使用经验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FA2AD-3FB3-4A05-8D95-5C8EBAA9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104900"/>
            <a:ext cx="4095750" cy="4139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70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370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ED304-7634-4CE2-8245-9AC237CF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00175"/>
            <a:ext cx="86963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有计划，有目标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2DB6-F165-4616-93DF-6EA6B0EF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28850"/>
            <a:ext cx="86963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让人的投入更少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3313-2DC7-41FF-A804-0E23BCCD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57525"/>
            <a:ext cx="8696325" cy="89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让交付质量更高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0AA041-44BF-4ACB-BBEF-CE36704A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67175"/>
            <a:ext cx="86487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多花心思思考任务和流程，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2DC2A-DB0E-4D1B-989D-8539775D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2938"/>
            <a:ext cx="86487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把适合AI的执行与检查交给它。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40158-3568-45AD-B652-12903384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71F7B-1B1F-40F1-BC34-92CE4BCE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44767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我经常追问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23CA7-1120-4BE9-A475-147F083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8220075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“这一步你能不能自己完成？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B5895-AF51-49A8-ABFC-6E73CB53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07981"/>
            <a:ext cx="8220075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哪些才需要我来确认？”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BF661-DA10-4768-8C3C-79EB3416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62625"/>
            <a:ext cx="407670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人始终把握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8EDFF-033F-42A5-9CD6-C9A3AD37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00775"/>
            <a:ext cx="40767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目标与背景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3E842-7AE4-4C28-8078-9397DD79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60820"/>
            <a:ext cx="40767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质量标准与方向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7FB1F7-CD6B-40CD-BA81-49FCCD17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920865"/>
            <a:ext cx="40767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关键判断与最终确认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C0C9C-E02B-4C0F-B6C8-14893D93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12362-FF43-44BA-BE79-BBFA447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0EEF3-A5BB-4D0F-9F6F-EA666601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人的能力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5B3A2-6F39-42F8-9DC8-C203F2FE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11 / 17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8447268ba4a49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20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3121E-52B1-4F1C-A043-EB9B38D1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11 / 学习 · 在实践中形成方法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35F4F-28FA-426C-9F1C-B8EB94A8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从一个真实的小任务开始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19E95-5C5C-4F5E-A3F5-A04AF66D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E861-E0C9-42BD-AC0F-80B66BF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CE5F-B112-442D-A8DB-831E625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做一次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67656-F5EF-4233-848E-07019AB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选择小任务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D8F97-D74C-49C4-B289-F0121320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边界清楚，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9ACF4-B5AD-4B7E-8AE2-C21B78DF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2579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结果能核对。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A051F-0905-4BFD-A70B-1EC70C08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B20D8-9BA8-4AFA-ADBD-D4DF43D9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1BEE7-91E7-4A25-872D-A454813D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0997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查一次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8F12F-D60F-41D5-8A5B-9FF354FF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检查结果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27884-E7EF-4B22-A20C-10587446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1967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哪里正确？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39B95-DDFC-48C7-B09E-05CDC0F6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392579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哪里遗漏或不适用？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2E821-DD72-4604-A02D-8A508D3A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336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16668-784B-49C8-AE6A-46BB825E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71800"/>
            <a:ext cx="95250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73D630-25EF-4920-8E47-A5766188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09975"/>
            <a:ext cx="4238625" cy="822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改一次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8B9ED-3D41-4F08-A12D-29EE8D01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76750"/>
            <a:ext cx="4238625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补充资料与要求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EAE81-D176-4313-A8D9-DD00C36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19675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再观察结果变化，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ECBCB-C38E-46F3-B3BB-BF3BB93E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392579"/>
            <a:ext cx="423862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积累自己的经验。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24008-2CF8-43E4-B042-A4D0E6E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1987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7A199-CA1B-4302-A166-32BB038F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19900"/>
            <a:ext cx="443865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留下自己的任务模板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9076B-D78C-495B-9E65-2B5C5D3A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867525"/>
            <a:ext cx="86296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背景怎么交代 · 资料怎么提供 · 结果怎么检查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4D270-30FB-4404-9C30-9BFCD24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58075"/>
            <a:ext cx="13677900" cy="320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聊天记录不等于模型自动学会；可复用的方法和经过筛选的资料，需要主动整理。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84EFD-D229-4E79-9D71-9977350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34A99-2A49-4142-AFB6-8DE2C5D3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99E7A-61B4-4D0F-9534-D446462C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人的能力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2943F-996A-4AE0-A5BA-BA218F7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12 / 17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dec1adc52454a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087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C9CC3-925D-4BA1-9570-9160510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12 / 一张简单的任务单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02DD6-3705-4F32-92F7-182D0602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把事情交代清楚，再让AI执行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AD425-AA25-4D9A-A795-51BEC7A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6A47D-0FFA-4D0D-8FEE-BF962186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762000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2EA14-3DB3-46AB-850E-FA1F3681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62250"/>
            <a:ext cx="2095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F4313-92CD-481B-874B-CA04AAD2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99822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这是哪件事？材料给谁看？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B3D35-F5E6-4A98-A035-F73BCA92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8F8A1-FCAA-439B-AC82-0E025681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762000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E9D5B-4D12-45F4-9146-120A15E2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29025"/>
            <a:ext cx="2095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9D294-5B8A-453D-8328-1CCB664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05225"/>
            <a:ext cx="99822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希望解决什么问题，得到什么结果？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0A924-DF64-43E0-A96F-512A317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A2B90-3C9D-4865-B3C6-22552503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62000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AC461-5D47-4B3B-9981-BFB6D651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2095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BDFBB-C3AD-441E-ACF2-4EB38E2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99822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有哪些已知事实、参考材料和限制？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416AE-E6DB-4427-864C-F425993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212A5A-FE68-4720-A98B-94C7E9DF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9725"/>
            <a:ext cx="762000" cy="423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36B9E-8A99-44C2-9E8B-A941F2C0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2095500" cy="564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要求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5B965-2A9B-4FD3-A5A1-C057F456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38775"/>
            <a:ext cx="99822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要什么结构、篇幅？怎样才算完成？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C21C4A-8B15-4B27-A3C7-AE19280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0"/>
            <a:ext cx="136779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73E04-D56C-48A6-92A3-3D9DCADA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05600"/>
            <a:ext cx="2219325" cy="371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最后加一句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2832A-58A8-4CAF-BDA9-15DAB79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6667500"/>
            <a:ext cx="1066800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缺失的信息标为“待确认”，不要自行编造。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39981-7644-4CD8-BE11-804E356E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7040404"/>
            <a:ext cx="1066800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完成后先对照要求检查，再告诉我需要确认什么。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C1EB9-66A6-45DE-A51E-DEB1612A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7E91F-5BA0-4AAE-B92D-16E6D588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CACC2-D030-4998-BA10-5C068D8C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开始使用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E3321-D383-4809-A9A2-2CF4AF4E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13 / 17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94606172b47fc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953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362AF9-5FB5-4CAC-AEC4-9B4FFC0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13 / 明天就可以开始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9E1A0-6F67-4F96-AA8A-FFB42ED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9675"/>
            <a:ext cx="13677900" cy="873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选一件小事，试一次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BEA7-C80D-49E1-B16D-F98C9CAA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7896225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8E6F9-9D1F-4B8D-9EC1-32296BD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7019925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先从熟悉的办公任务开始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F1C06-A7D0-425E-A4FC-B9A81354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7181850" cy="78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1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写材料 · 理思路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321E1-B9EC-4AA8-9FAF-59755B5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7029450" cy="47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给定事实，形成一份初稿；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CA999-BFDF-4E13-BE1F-869B0372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6321"/>
            <a:ext cx="7029450" cy="474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补充要求，再修改一次。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5C6CC-0AB7-4D14-93EB-7FDF6C93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95925"/>
            <a:ext cx="7210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8A2B8-7173-496B-AA20-648C9602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95950"/>
            <a:ext cx="264795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手机也能起步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77755-DB63-4C37-BC16-42F1BA46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67375"/>
            <a:ext cx="4219575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从豆包、DeepSeek等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F5DDC-8621-45C5-BDCF-76A31F00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88844"/>
            <a:ext cx="4219575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自己接触过的应用开始。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8D287-D4F4-4A73-8D9F-7E108079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9875"/>
            <a:ext cx="50101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有兴趣，可以继续探索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E67B3-42FE-4FDA-AC92-18E2224F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72E9F-0814-44E9-95CD-00461D84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05225"/>
            <a:ext cx="501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AI作图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6C539-D476-4DDD-BC40-6256093D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14825"/>
            <a:ext cx="50101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描述用途和风格，修改表达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76B95-DB8F-4A99-8B79-615A4E51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29175"/>
            <a:ext cx="501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3569D-A4C5-4CCB-87D1-9897400B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29200"/>
            <a:ext cx="501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AI编程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3E90A-8B49-4571-92BD-0B781A92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38800"/>
            <a:ext cx="5010150" cy="397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描述需求，尝试制作小工具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01541-B433-43FC-AD82-E1FDC220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362700"/>
            <a:ext cx="5010150" cy="3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随着任务需要，逐步体验电脑智能体。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2DF1EE-BFAA-493E-895C-AF90EEFC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A6F10-2D13-4276-983C-DA9C267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使用时记住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0A84D-B147-45E3-AC4E-3F713C59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单位资料按规定处理；关键事实核验后再使用。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EC10F-7750-4325-AE96-29492117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1D956-2ABD-4B2D-BDD4-C6E25D1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146D2-A5A1-44FC-B906-39032536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开始使用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CBEF2-19AD-48C0-B937-AFBC3572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14 / 17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aac5656b540d5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72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A5953-4A2C-4401-8C5C-9648D556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14 / 认识我们的平台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58AC2-F449-4568-A6EF-1235D0B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9334500" cy="15292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7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847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OpenCSG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B9200-17BC-4A08-ABCE-43A97E0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857250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开放传神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FC643-B3D8-4920-BD9E-31E786E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181975" cy="912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AI开源社区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0A64A-DAA8-4E32-BEAA-89ABAA8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5819"/>
            <a:ext cx="8181975" cy="912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48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与资源共享平台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8D7DA-6662-4DC2-B21C-BE339536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82867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可以把它理解为与Hugging Face类似的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0FC45-80BC-42A4-8FE8-97D02B4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3620"/>
            <a:ext cx="8286750" cy="43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模型、数据集等AI资源平台。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2EE91-6293-4791-A097-5E84E807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123D0-83A5-435F-B6E1-9764C039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4552950" cy="577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6545E-D3DC-4239-AFFA-23A0F895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455295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寻找与分享AI能力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BED9A-F26D-4AB8-BEAA-FC8EAD07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909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540F2-1B6C-4D65-A75A-C52E6C64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4552950" cy="577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数据集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98AFB-5B0B-428F-A5EE-BDD18C83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52900"/>
            <a:ext cx="455295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寻找与分享数据资源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7DD86-2819-40C4-B487-CF685B83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863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E98E8-A66A-4F1B-9AC6-AEFDF34E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4552950" cy="577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社区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7F2BB-6A88-4A6A-9C17-24CA4A60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48300"/>
            <a:ext cx="455295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交流、学习与共同探索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AF35F-4629-4CEC-86A3-47FB0AD0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29375"/>
            <a:ext cx="455295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opencsg.com 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CE111-8DCE-425B-8A35-6A15369B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613CB-495B-41D5-BF42-5BF72C4F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673EE-AB35-46B7-82DB-59A9EF57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开始使用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7D215-3428-47FD-AC42-AFCEA0DE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15 / 17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f77069fd64b1e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95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4249D-1C16-48D9-8B87-BA8D4C65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15 / 现场演示 · 10分钟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6AC8A-A9D1-4EAF-9C46-0F2E29D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2075"/>
            <a:ext cx="10953750" cy="963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5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让智能体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CF5CF-D3AC-4572-88DD-C6FF3D3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12858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7500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完成一份方案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0E30E-B704-484E-803F-A353D55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2382500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演示工具：Codex 或 CSGClaw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D0BF8-803D-4145-B08C-785D92A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EE5FF-F52E-4274-8C90-0686AE5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8191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CDA55-6DB5-4C9A-ABB4-73C5910A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3219450" cy="55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交代任务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26657-AD1A-4C2F-84FF-BA2BD80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背景、目标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DA1BC-803A-4BE0-AF70-33B0B1E6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21279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资料、要求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B940A-97B1-4AEB-BA2A-552076A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434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0EDDD-8390-4C26-81C7-8C7915CF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72050"/>
            <a:ext cx="8191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FDFD6-DC2F-406A-A045-F3B257C9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29250"/>
            <a:ext cx="3219450" cy="55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执行任务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1F457-BC8B-4348-9AB1-FE80D887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48375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整理资料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213A1-0B8C-4B24-B9B5-5AA63C0E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421279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形成方案初稿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62C91-A677-48AD-B823-4664DFA9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BEC14-C2AD-436A-9184-24CB244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8191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F3815-37FF-457A-9740-AC645CC4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29250"/>
            <a:ext cx="3219450" cy="55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检查修改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EA434-3418-4FA1-AFD3-7405091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48375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对照要求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D0F0F-74E8-4BAF-880F-DAEDEB46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421279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发现问题并改进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EC0F86-EF2B-4EE3-8980-8F48B846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743450"/>
            <a:ext cx="299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D6835-8025-4C61-B3F8-E4CB8D3A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972050"/>
            <a:ext cx="81915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3347D-A9C2-473C-9C67-71EE9928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429250"/>
            <a:ext cx="3219450" cy="55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人工把关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DFE199-D293-4BB1-B3C0-F0F5F699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48375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核实事实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5E980-ABE9-4704-AFC1-6524BEC3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421279"/>
            <a:ext cx="31432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确认可用性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5EEC9-8749-4C56-B127-7AFF54F3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BF085-D488-4F2E-A27A-3508DB1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观察重点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42715-5078-47AC-9468-1A9A45EB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任务怎么交代、AI做了什么、哪些地方需要人来判断。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B0275-88D0-4FF7-9810-5931F8A9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E6239C-44AC-4489-B468-1FCCE316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66DA3-A456-4B62-8BD7-AE21B1CB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智能体演示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08A5B-F429-4945-A4C9-E7E667D4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16 / 17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79701146a44ea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19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0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63453-228B-43C0-92BF-D63AA48C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"/>
            <a:ext cx="13677900" cy="346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16 / 交流答疑 · 20分钟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DB99B-3A6D-4DB2-970F-45280E9F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13430250" cy="10148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你想先把哪件事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DA68-7E66-4FA5-8891-F300B3DA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3430250" cy="127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975" b="1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6975" b="1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交给AI？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81C30-3524-4145-9F99-73C1C557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2858750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现场举手，或在腾讯会议聊天区提问。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3EAEA-FA23-43BE-8F06-D4A213A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BAD47-D792-400A-A972-1D5FE22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9525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DA10B-1871-4BF5-834B-969E33EB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29150"/>
            <a:ext cx="1240155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把事情想清楚、交代清楚。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B2E81-8735-43CC-A428-D3EE02B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8DC96-6E65-4CAC-8BC7-703C4996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9525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51787-4F5C-4AEA-A817-944C7FB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1240155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让AI执行，并先做适合它的检查。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02368-EF03-49CC-BFF4-C882A50A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20580-EB1B-405D-9345-494DB83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48400"/>
            <a:ext cx="952500" cy="410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AFA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5A57F-D544-4432-8353-ABB2AB8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210300"/>
            <a:ext cx="12401550" cy="526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用专业知识和判断力，把结果把关好。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0CF03-3D1F-4407-B81D-B058B5E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0E203-012A-49FF-B447-422949C0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4852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课后小尝试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1893D-FB1F-49A1-9355-0A02F605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172325"/>
            <a:ext cx="11839575" cy="44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4F6F8"/>
                </a:solidFill>
                <a:latin typeface="PingFang SC"/>
                <a:ea typeface="PingFang SC"/>
                <a:cs typeface="PingFang SC"/>
              </a:rPr>
              <a:t>选一件可公开的小事：做一次、查一次、改一次。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F1436-62D7-4636-B4CF-DF867973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905750"/>
            <a:ext cx="1367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5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E6A6C-1D40-4D0E-AB2D-C718D8E5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8143875"/>
            <a:ext cx="68580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东方市夜校 · AI应用系列课第一讲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68619-74A6-45D8-8F9B-4DEAC028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143875"/>
            <a:ext cx="323850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回顾与答疑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B1212F-F449-45CC-B12A-17D7E2D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143875"/>
            <a:ext cx="857250" cy="2947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A7B6C7"/>
                </a:solidFill>
                <a:latin typeface="PingFang SC"/>
                <a:ea typeface="PingFang SC"/>
                <a:cs typeface="PingFang SC"/>
              </a:rPr>
              <a:t>17 / 17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09aaec12e4ebe"/>
          <a:stretch xmlns:a="http://schemas.openxmlformats.org/drawingml/2006/main"/>
        </p:blipFill>
        <p:spPr>
          <a:xfrm xmlns:a="http://schemas.openxmlformats.org/drawingml/2006/main">
            <a:off x="781229" y="7991475"/>
            <a:ext cx="1428393" cy="4570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72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陈一豪 / Ethan</dc:creator>
  <ns0:lastModifiedBy>陈一豪 / Ethan</ns0:lastModifiedBy>
  <dc:title>Presentation</dc:title>
  <ns2:created xsi:type="dcterms:W3CDTF">2026-09-15T10:17:03.0500000Z</ns2:created>
  <ns2:modified xsi:type="dcterms:W3CDTF">2026-09-15T10:17:03.0500000Z</ns2:modified>
</ns0:coreProperties>
</file>